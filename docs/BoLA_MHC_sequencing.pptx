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06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the Bovine MHC on Oxford Nanopore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BFD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Amplicon PCR, native barcoding, and what it means for the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gDNA → locus PCR → native barcoding → MinKNOW → typing     ·     R10.4.1 · SQK-NBD114 · dorado SUP</a:t>
            </a:r>
            <a:r>
              <a:rPr lang="en-US" sz="1700" b="1" dirty="0">
                <a:solidFill>
                  <a:srgbClr val="2F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7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7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16736" y="502920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0784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84832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5029200"/>
            <a:ext cx="256032" cy="256032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52928" y="502920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36976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21024" y="50292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5072" y="5029200"/>
            <a:ext cx="256032" cy="256032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5029200"/>
            <a:ext cx="256032" cy="256032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5029200"/>
            <a:ext cx="256032" cy="256032"/>
          </a:xfrm>
          <a:prstGeom prst="ellipse">
            <a:avLst/>
          </a:prstGeom>
          <a:solidFill>
            <a:srgbClr val="2FA8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Kapur Lab  ·  Penn State  ·  Animal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NANOPORE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Oxford Nanopore for this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reads + native multiplexing make allele-level MHC typing tractable, and cheap.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reads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span full genes (the 3.6 kb 5′UTR amplicon) and phase paralogs; short reads can't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multiplexing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up to 96 barcoded samples pooled on a single flow cell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&amp; portable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modest capital, real-time data, runs in-house on a MinION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now sufficient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R10.4.1 + SUP basecalling reaches the per-read accuracy allele typing needs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95928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 HLA typing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multiplexed-PCR MinION reaches 99.5–100% concordance [Liu 2021; Matern 2020]; proven for multi-copy MHC/KIR incl. macaque MHC [Bruijnesteijn 2021; de Groot 2024]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q_plat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557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q_amplic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82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q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11091672" cy="3577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PREP  ·  SQK-NBD114 NATIVE BARCODING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 to a loadable library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min bench time; each stage can pause overnight at 4 °C.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End-prep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repair ends + dA-tail; 200 fmol amplicon input per sample (NEBNext Ultra II)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barcode ligation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one unique barcode per sample (NB01–96), then pool all samples into one tube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ligation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ligate the sequencing (motor-protein) adapter; clean up at 0.4× beads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Size-selection lever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LFB enriches ≥3 kb (for the 5′UTR long-range); SFB keeps all sizes (amplicon panel) — never ethanol, it denatures the motor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95928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&amp; load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check ≥800 active pores; load by fragment length, dropwise onto the SpotON port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&amp; BASECALLING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flow cell — signal to reads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R10.4.1 flow cell; MinKNOW acquires, basecalls and demultiplexes in real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cell check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warm to RT, run a pore check; don't start below 800 active pores (SOP-016)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carefully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air in the sensor array is irreversible; the top cause of a low starting pore count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first 30 min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window that reveals a priming or loading problem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Basecall + demux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MinKNOW real-time by barcode; but its default is FAST/HAC — MHC needs SUP re-basecalling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chemistry forces on the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wet-lab choices above set the constraints the pipeline has to handle.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9164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≈ paralog divergence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→ SUP basecalling + cluster-first (not genome-mapping) for multi-copy Class 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demux is imperfect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→ misassignment risk; use barcode-both-ends and a per-barcode depth gate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843784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chimeras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paralogs recombine in PCR → false alleles; consensus + filters guard (enrichment avoids it, [Bruijnesteijn 2021])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length is real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5′UTR long-range must actually yield long fragments (LFB), or it stays undersampled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95928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Amplicon ≠ copy number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PCR panels can't count gene copies → Class I stays provisional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4572000"/>
            <a:ext cx="105247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Basecalling model matters</a:t>
            </a: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real-time FAST/HAC isn't enough; re-basecall SUP (our cohort was FAST)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reads, cheaply multiplexed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208483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barcoding pools up to 96 samples on one MinION flow cell; long reads phase paralogs and span full genes — validated for HLA and multi-copy immune regions.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13639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choice is the biggest lever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350215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LFB vs SFB (and bead ratio) set size-selection and yield — exactly what the 5′UTR long-range amplicon needs to sequence at length.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455371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Basecalling model is not a detail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63040" y="4919472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08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MinKNOW's real-time default is FAST/HAC; multi-copy Class I needs SUP — the reason we re-basecall on the GB10.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4202</TotalTime>
  <Words>1595</Words>
  <Application>Microsoft Macintosh PowerPoint</Application>
  <PresentationFormat>Widescreen</PresentationFormat>
  <Paragraphs>183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Penn State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BoLA MHC genotyping</dc:title>
  <dc:subject/>
  <dc:creator>vkapur</dc:creator>
  <cp:keywords/>
  <dc:description/>
  <cp:lastModifiedBy>Kapur, Vivek</cp:lastModifiedBy>
  <cp:revision>3</cp:revision>
  <dcterms:created xsi:type="dcterms:W3CDTF">2026-07-11T12:34:25Z</dcterms:created>
  <dcterms:modified xsi:type="dcterms:W3CDTF">2026-07-14T10:41:59Z</dcterms:modified>
  <cp:category/>
</cp:coreProperties>
</file>