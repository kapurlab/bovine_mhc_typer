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1" r:id="rId21"/>
    <p:sldId id="272" r:id="rId22"/>
    <p:sldId id="273" r:id="rId23"/>
    <p:sldId id="274" r:id="rId24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7.xml"/><Relationship Id="rId5" Type="http://schemas.openxmlformats.org/officeDocument/2006/relationships/slide" Target="slides/slide8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06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BoLA MHC Genotyping Pipeline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BF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Oxford Nanopore amplicon sequencing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two-class pipeline  </a:t>
            </a:r>
            <a:r>
              <a:rPr lang="en-US" sz="1700" b="1" dirty="0">
                <a:solidFill>
                  <a:srgbClr val="2F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 </a:t>
            </a: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(multi-copy, hard)   vs   </a:t>
            </a:r>
            <a:r>
              <a:rPr lang="en-US" sz="17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II / DRB3 (DQA/DQB pending)  </a:t>
            </a: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(single-copy, clean)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5029200"/>
            <a:ext cx="256032" cy="256032"/>
          </a:xfrm>
          <a:prstGeom prst="ellipse">
            <a:avLst/>
          </a:prstGeom>
          <a:solidFill>
            <a:srgbClr val="2FA8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16736" y="5029200"/>
            <a:ext cx="256032" cy="256032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00784" y="5029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84832" y="5029200"/>
            <a:ext cx="256032" cy="256032"/>
          </a:xfrm>
          <a:prstGeom prst="ellipse">
            <a:avLst/>
          </a:prstGeom>
          <a:solidFill>
            <a:srgbClr val="2FA8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5029200"/>
            <a:ext cx="256032" cy="256032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52928" y="5029200"/>
            <a:ext cx="256032" cy="256032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36976" y="5029200"/>
            <a:ext cx="256032" cy="256032"/>
          </a:xfrm>
          <a:prstGeom prst="ellipse">
            <a:avLst/>
          </a:prstGeom>
          <a:solidFill>
            <a:srgbClr val="2FA8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21024" y="5029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05072" y="5029200"/>
            <a:ext cx="256032" cy="256032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5029200"/>
            <a:ext cx="256032" cy="256032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73168" y="5029200"/>
            <a:ext cx="256032" cy="256032"/>
          </a:xfrm>
          <a:prstGeom prst="ellipse">
            <a:avLst/>
          </a:prstGeom>
          <a:solidFill>
            <a:srgbClr val="2FA8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Kapur Lab   ·   analysis on WGS3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genotyping the bovine MHC (BoLA)?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recognition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2084832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molecules display pathogen fragments to T cells. An animal's MHC genotype shapes which infections its immune system can “see” and respond to.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313639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resistance &amp; breeding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63040" y="3502152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type is linked to resistance and susceptibility to key cattle diseases and a genetic marker for health-informed selection.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455371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and Vaccine immunology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63040" y="4919472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each animal's MHC type is needed to detect, interpret and design peptide-based markers of immune responses for the collaborators using these data.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BOVINE MHC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BoLA complex is — and why it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polymorphic immune region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2084832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is the cattle MHC on chromosome 23. Class I presents peptides to CD8+ T cells, Class II to CD4+ — the genotype sets what an animal can immunologically “see”.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313639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fluid, multi-copy gene family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63040" y="3502152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genes BoLA-1/2/3/4/6 (plus non-classical); DRB3 is the Class II workhorse. Unlike human, haplotypes vary in the number and composition of expressed Class I genes — none is on every haplotype (Ellis et al.).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455371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type it — including bovine TB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63040" y="4919472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DRB3 alleles track mastitis, tick burden and trypanosomiasis. BoLA is a leading candidate for bovine-TB susceptibility, but the genetic evidence is still mixed — accurate typing, especially at Class I, is the missing prerequisite.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BoLA region on chromosome 23</a:t>
            </a:r>
            <a:endParaRPr lang="en-US" sz="3200" dirty="0"/>
          </a:p>
        </p:txBody>
      </p:sp>
      <p:pic>
        <p:nvPicPr>
          <p:cNvPr id="4" name="Picture 3" descr="genom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11091672" cy="4494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≠ HUMAN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human HLA methods don't transfer</a:t>
            </a:r>
            <a:endParaRPr lang="en-US" sz="3200" dirty="0"/>
          </a:p>
        </p:txBody>
      </p:sp>
      <p:pic>
        <p:nvPicPr>
          <p:cNvPr id="4" name="Picture 3" descr="compar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0881360" cy="48059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MHC typing is technically hard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problems the pipeline must solve — several unique to multi-copy Class 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91640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polymorphism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MHC is the most variable region of the genome; new alleles keep appearing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267712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Paralog knife-edge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over ~600 bp, read error ≈ paralog divergence, so genome-mapping collapses the copies onto one locus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843784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copy number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can't assume two alleles per locus when the gene count varies between haplotypes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419856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trade-off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short amplicons sequence deep but can't say which gene a variant is from; long-range resolves copies but is hard to sequence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995928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Basecalling accuracy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read error must sit below allele divergence; FAST/HAC isn't enough, SUP is required (our cohort was FAST)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4572000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gaps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 true novel allele vs a sequencing artifact can't be told from IPD alone → orthogonal confirmation (Arm B)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method, two very different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7236" cy="3703320"/>
          </a:xfrm>
          <a:prstGeom prst="roundRect">
            <a:avLst>
              <a:gd name="adj" fmla="val 2469"/>
            </a:avLst>
          </a:prstGeom>
          <a:solidFill>
            <a:srgbClr val="F4F8F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6771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Multi-gene, copy-number-variable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46771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BoLA-1/2/3/4/6 genes per haplotype, and the number varies between animals.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77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HARD: paralogs are too similar to separate and too divergent to be one locus. Calls are unstable.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3076" y="1691640"/>
            <a:ext cx="5317236" cy="3703320"/>
          </a:xfrm>
          <a:prstGeom prst="roundRect">
            <a:avLst>
              <a:gd name="adj" fmla="val 2469"/>
            </a:avLst>
          </a:prstGeom>
          <a:solidFill>
            <a:srgbClr val="F4F8FA"/>
          </a:solidFill>
          <a:ln w="1905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43116" y="196596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II  ·  DRB3 (pending DQA/DQB)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43116" y="2377440"/>
            <a:ext cx="46771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locus, two alleles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43116" y="3291840"/>
            <a:ext cx="46771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gene, one pair of alleles per animal — exactly what a diploid model expects.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CLEAN: reproducible genotype, ready to report.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biological difference drives the entire pipeline design — and every result.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WE SEQUENCED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amplicons on Nanopore MinION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920240" cy="411480"/>
          </a:xfrm>
          <a:prstGeom prst="rect">
            <a:avLst/>
          </a:prstGeom>
          <a:solidFill>
            <a:srgbClr val="0B3D5C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783080"/>
            <a:ext cx="2286000" cy="411480"/>
          </a:xfrm>
          <a:prstGeom prst="rect">
            <a:avLst/>
          </a:prstGeom>
          <a:solidFill>
            <a:srgbClr val="0B3D5C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783080"/>
            <a:ext cx="1554480" cy="411480"/>
          </a:xfrm>
          <a:prstGeom prst="rect">
            <a:avLst/>
          </a:prstGeom>
          <a:solidFill>
            <a:srgbClr val="0B3D5C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330952" cy="411480"/>
          </a:xfrm>
          <a:prstGeom prst="rect">
            <a:avLst/>
          </a:prstGeom>
          <a:solidFill>
            <a:srgbClr val="0B3D5C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91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Bov7/11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68880" y="2194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~610 bp gDNA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5330952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exon 2–3  ·  primary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11091672" cy="658368"/>
          </a:xfrm>
          <a:prstGeom prst="rect">
            <a:avLst/>
          </a:prstGeom>
          <a:solidFill>
            <a:srgbClr val="F4F8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529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BosEx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68880" y="28529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~690 bp gDNA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54880" y="2852928"/>
            <a:ext cx="1554480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2852928"/>
            <a:ext cx="5330952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exon 2–3  ·  orthogonal cross-check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511296"/>
            <a:ext cx="11091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5112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5′UTR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468880" y="35112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~3.5–5 kb gDNA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54880" y="35112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3511296"/>
            <a:ext cx="5330952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gene (exon 1→4)  ·  resolves gene copies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169664"/>
            <a:ext cx="11091672" cy="658368"/>
          </a:xfrm>
          <a:prstGeom prst="rect">
            <a:avLst/>
          </a:prstGeom>
          <a:solidFill>
            <a:srgbClr val="F4F8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1696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DRB3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468880" y="41696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~594 bp gDNA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54880" y="4169664"/>
            <a:ext cx="1554480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09360" y="4169664"/>
            <a:ext cx="5330952" cy="6583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Single-locus typing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R10.4.1 · SQK-NBD114-96 · dorado SUP v5.2.0 · 24 Dairy Complex animals · ARS-UCD2.0 + IPD-MHC · DQA/DQB pending for full MHC-II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F6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3154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end to end, for each MHC class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 PIPELINE  ·  BOV7/11 · BOSEX · 5′UTR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 — cluster-first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mapping collapses paralogs, so we separate genes by sequence, not position.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91640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QC filter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nanoq; short 400–950 bp Q10, 5′UTR 2500–6000 bp Q8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267712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 reads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minimap2 → ARS-UCD2.0 chr23 MHC window; ref-oriented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843784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(reference-free)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vsearch, id 0.88 short / 0.85 long — separates the genes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419856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per cluster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spoa draft → medaka polish (R10.4.1 SUP)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995928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Diploid split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bcftools ploidy-2: allele-1 = majority, allele-2 = het-ALT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4572000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+ tier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BLAST → IPD BoLA_nuc+gen: CONFIRMED / candidate→ArmB / NC / review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1755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5175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15568" y="5148072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Cross-amplicon reconcile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Bov7/11 + BosEx + 5′UTR — concordance = confidence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8640" y="575157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5751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15568" y="5724144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Haplotype call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confident alleles → Tim's MHCI workbook → HP1.* pair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II PIPELINE  ·  DRB3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II (DRB3) — direct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locus with two alleles — no clustering or phasing needed.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402336" cy="40233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1874520"/>
            <a:ext cx="10524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QC filter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nanoq; 400–850 bp Q10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02336" cy="40233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2624328"/>
            <a:ext cx="10524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reads → IPD BoLA_nuc (DRB3)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best hit per read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402336" cy="40233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5568" y="3374136"/>
            <a:ext cx="10524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genotype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top-2 distinct allele groups = the diploid pair (het / hom)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402336" cy="40233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5568" y="4123944"/>
            <a:ext cx="10524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MHCII haplotype (optional)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DRB3 allele → Tim's MHCII workbook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5EE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5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23/24 clean DRB3 genotypes (1 PCR failure).  </a:t>
            </a:r>
            <a:r>
              <a:rPr lang="en-US" sz="1500" b="1" dirty="0">
                <a:solidFill>
                  <a:srgbClr val="C77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 </a:t>
            </a:r>
            <a:r>
              <a:rPr lang="en-US" sz="15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DQA/DQB amplicons — will complete the MHC-II (HP2) haplotype beyond DRB3.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Short-amplicon Class I doesn't reproduce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animal (3300), two independent class-I primer sets, calls at gene level: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905756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 w="1524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Bov7/11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BoLA-1*009/*019 · BoLA-2*008/*025 · BoLA-4*024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4556" y="1828800"/>
            <a:ext cx="4905756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 w="15240">
            <a:solidFill>
              <a:srgbClr val="2FA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63156" y="196596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BosEx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63156" y="2377440"/>
            <a:ext cx="4448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BoLA-1*031 · BoLA-2*018/*071 · BoLA-3*033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91556" y="22402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04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none  —  only ~3 of ~40 class-I alleles agree across the two amplicons cohort-wide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343400"/>
            <a:ext cx="10543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4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multi-copy collapse (or genuinely &gt;2 gene copies) means each primer set samples a different slice of a large gene family — so the calls don't replicate.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</a:t>
            </a:r>
            <a:r>
              <a:rPr lang="en-US" sz="14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 allele calls and MHCI haplotypes are provisional leads, not final genotypes — they need the long-range 5′UTR (adequate depth) or orthogonal Arm B (independent Sanger or </a:t>
            </a:r>
            <a:r>
              <a:rPr lang="en-US" sz="1450" dirty="0" err="1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MiSeq</a:t>
            </a:r>
            <a:r>
              <a:rPr lang="en-US" sz="14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confirmation.  DRB3 (single-copy) reproduces perfectly, which proves the pipeline is sound; the class-I difficulty is the biology.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Per-animal report + browsable HTML sheet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animal: class-I alleles by gene · haplotype · DRB3 · reflex flags · per-amplicon QC.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208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2075688"/>
            <a:ext cx="9125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BoLA-1*019:01</a:t>
            </a:r>
            <a:r>
              <a:rPr lang="en-US" sz="14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BoLA-2*012:01</a:t>
            </a:r>
            <a:r>
              <a:rPr lang="en-US" sz="14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400" b="1" dirty="0">
                <a:solidFill>
                  <a:srgbClr val="C77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*008:03</a:t>
            </a:r>
            <a:r>
              <a:rPr lang="en-US" sz="14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BoLA-3*086:01N</a:t>
            </a:r>
            <a:r>
              <a:rPr lang="en-US" sz="14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–   |   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7919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 haplotype:  </a:t>
            </a: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HP1.A10.1 / HP1.A12*</a:t>
            </a:r>
            <a:r>
              <a:rPr lang="en-US" sz="14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DRB3:  </a:t>
            </a: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*010:01 / *015:01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81528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 </a:t>
            </a:r>
            <a:r>
              <a:rPr lang="en-US" sz="13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NC1, NC9 detected</a:t>
            </a:r>
            <a:r>
              <a:rPr lang="en-US" sz="13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b="1" dirty="0">
                <a:solidFill>
                  <a:srgbClr val="C77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candidates → Arm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483864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QC:  </a:t>
            </a: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Bov7/11 52k ✓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1300" b="1" dirty="0">
                <a:solidFill>
                  <a:srgbClr val="B0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BosEx 77 ⚠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5′UTR 205 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r>
              <a:rPr lang="en-US" sz="13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confirmed / concordant       </a:t>
            </a:r>
            <a:r>
              <a:rPr lang="en-US" sz="1300" b="1" dirty="0">
                <a:solidFill>
                  <a:srgbClr val="C77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r>
              <a:rPr lang="en-US" sz="13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single-amplicon candidate → Arm B       </a:t>
            </a:r>
            <a:r>
              <a:rPr lang="en-US" sz="13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✓ / ⚠</a:t>
            </a:r>
            <a:r>
              <a:rPr lang="en-US" sz="13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per-amplicon depth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95604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files   ·   Desktop/BoLA/results/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5321808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per_animal_report.html</a:t>
            </a:r>
            <a:r>
              <a:rPr lang="en-US" sz="130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color-coded, browsable, self-contained (opens in any browser)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per_animal_report.txt  ·  reconciled_alleles.tsv  ·  drb3_typed.tsv  ·  per-amplicon TSVs (Bov7/11, BosEx, 5′UTR)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F6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3154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Detail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references, parameters, and the design rationale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BIOINFORMATICIAN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 — tools, references, parameters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97480" y="1600200"/>
            <a:ext cx="8942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minimap2  -x map-ont --secondary=no --MD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671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2167128"/>
            <a:ext cx="8942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ARS-UCD2.0 chr23 MHC window  (NC_037350.1 : 27.8–28.7 Mb)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340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2734056"/>
            <a:ext cx="8942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vsearch --cluster_size, id 0.88 short / 0.85 long, --strand plus on ref-oriented reads (pysam query_sequence)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3300984"/>
            <a:ext cx="8942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spoa draft → medaka  r1041_e82_400bps_sup_v5.2.0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679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/ phasing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3867912"/>
            <a:ext cx="8942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bcftools mpileup+call --ploidy 2;  allele-2 via -H2 het-ALT  (HapCUT2 read-backed phasing also validated)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4434840"/>
            <a:ext cx="8942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BLASTN vs IPD-MHC BoLA_nuc + BoLA_gen  (genomic ref essential: gDNA amplicons span introns)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017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5001768"/>
            <a:ext cx="8942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exact = CONFIRMED · &lt;100% no-indel = CANDIDATE_NOVEL→ArmB · NC*→diagnostic · indel/no-hit→review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57607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cluster-first:  </a:t>
            </a:r>
            <a:r>
              <a:rPr lang="en-US" sz="13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600 bp, ONT error (~5%) ≈ paralog divergence, so genomic-position mapping collapses paralogs onto one “locus” (54 variants, tri-allelic sites, VAF smear). Long 5′UTR reads carry enough unique sequence to separate them.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BIOINFORMATICIAN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II, reconciliation &amp; haplotypes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9525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3040" y="189280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DRB3 typing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258568"/>
            <a:ext cx="9902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BLASTN reads → IPD BoLA_nuc; top-2 distinct allele groups = genotype. Validated against a full minimap2 → bcftools → HapCUT2 phasing run — identical two alleles at 99.6–100%.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9525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5387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335584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Cross-amplicon reconciliation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721608"/>
            <a:ext cx="9902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amplicons per animal.  HIGH = ≥2 amplicons concordant · CONFIRMED = single 100% · PROVISIONAL = single candidate.  Concordance is the confidence metric.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9525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5001768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3040" y="481888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Haplotype calling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184648"/>
            <a:ext cx="9902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Specificity-weighted match to Tim's workbook (487 MHCI, 271 MHCII haplotypes); require ≥1 discriminating allele so common alleles don't over-call.  MHCII under-determined from DRB3 alone — DQA/DQB pending to complete HP2.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 ·  SHARING 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Istvan Albert's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genome-coordinate backbone — minimap2 → bcftools → HapCUT2 → consensus → peptides — is his. We validated it, and extended it for multi-copy Class 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17236" cy="3611880"/>
          </a:xfrm>
          <a:prstGeom prst="roundRect">
            <a:avLst>
              <a:gd name="adj" fmla="val 2532"/>
            </a:avLst>
          </a:prstGeom>
          <a:solidFill>
            <a:srgbClr val="F4F8FA"/>
          </a:solidFill>
          <a:ln w="1651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FROM ISTVAN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minimap2 map-ont genome alignment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bcftools mpileup + call diploid variant calling (flags, AD/ADF/ADR)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HapCUT2 read-backed phasing (extractHAIRS → HAPCUT2)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bcftools consensus -H1/-H2 haplotype reconstruction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MIN_FRAC on-target alignment filter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bam2pep.py peptide translation (for the immunology layer)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3076" y="2103120"/>
            <a:ext cx="5317236" cy="3611880"/>
          </a:xfrm>
          <a:prstGeom prst="roundRect">
            <a:avLst>
              <a:gd name="adj" fmla="val 2532"/>
            </a:avLst>
          </a:prstGeom>
          <a:solidFill>
            <a:srgbClr val="F4F8FA"/>
          </a:solidFill>
          <a:ln w="16510">
            <a:solidFill>
              <a:srgbClr val="C77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97396" y="2304288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77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MODIFICATIONS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97396" y="2724912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Cluster-first (vsearch) before phasing — his single-region diploid model collapses multi-copy Class-I paralogs (54 vars, tri-allelic, VAF smear); works as-is for single-copy DRB3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medaka SUP polishing for consensus accuracy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IPD-MHC BLAST assignment + confidence tiers + novelty flagging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cross-amplicon reconciliation + haplotype calling (Tim's workbook)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per-barcode driver + 128-core parallelization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the modifications back — the phasing backbone is his; the multi-copy handling is our delta.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problems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8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76479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5′UTR coverage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66544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class-I resolver — this run's long-range library sequenced mostly short fragments (median 805 bp). Long full-length reads separate the gene copies.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8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660904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B orthogonal confirmation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962656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/ MiSeq for candidate alleles and second alleles — required to promote any class-I call from provisional.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8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3557016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copy-number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858768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class I truly diploid per gene, or &gt;2 copies? Determines whether “diploid typing” is even the right frame.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8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4453128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BosEx ~2-SNP offset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75488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hits land ~99.2% vs IPD — basecaller artifact or a real cohort-vs-reference difference?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8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534924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DQA/DQB (pending)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65099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Amplicons in progress — will complete MHC-II (HP2) haplotypes beyond DRB3.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E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pipelines parallelized on WGS3 (128-core) · scripts in /home/vxk1/BoLA_MHC/scripts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4202</TotalTime>
  <Words>1595</Words>
  <Application>Microsoft Macintosh PowerPoint</Application>
  <PresentationFormat>Widescreen</PresentationFormat>
  <Paragraphs>183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Penn State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BoLA MHC genotyping</dc:title>
  <dc:subject/>
  <dc:creator>vkapur</dc:creator>
  <cp:keywords/>
  <dc:description/>
  <cp:lastModifiedBy>Kapur, Vivek</cp:lastModifiedBy>
  <cp:revision>3</cp:revision>
  <dcterms:created xsi:type="dcterms:W3CDTF">2026-07-11T12:34:25Z</dcterms:created>
  <dcterms:modified xsi:type="dcterms:W3CDTF">2026-07-14T10:41:59Z</dcterms:modified>
  <cp:category/>
</cp:coreProperties>
</file>